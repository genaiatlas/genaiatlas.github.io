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9144000" cy="5143500"/>
  <p:embeddedFontLst>
    <p:embeddedFont>
      <p:font typeface="Nunito SemiBold"/>
      <p:regular r:id="rId18"/>
      <p:bold r:id="rId19"/>
      <p:italic r:id="rId20"/>
      <p:boldItalic r:id="rId21"/>
    </p:embeddedFont>
    <p:embeddedFont>
      <p:font typeface="Nunito"/>
      <p:regular r:id="rId22"/>
      <p:bold r:id="rId23"/>
      <p:italic r:id="rId24"/>
      <p:boldItalic r:id="rId25"/>
    </p:embeddedFont>
    <p:embeddedFont>
      <p:font typeface="Helvetica Neue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SemiBold-italic.fntdata"/><Relationship Id="rId22" Type="http://schemas.openxmlformats.org/officeDocument/2006/relationships/font" Target="fonts/Nunito-regular.fntdata"/><Relationship Id="rId21" Type="http://schemas.openxmlformats.org/officeDocument/2006/relationships/font" Target="fonts/NunitoSemiBold-boldItalic.fntdata"/><Relationship Id="rId24" Type="http://schemas.openxmlformats.org/officeDocument/2006/relationships/font" Target="fonts/Nunito-italic.fntdata"/><Relationship Id="rId23" Type="http://schemas.openxmlformats.org/officeDocument/2006/relationships/font" Target="fonts/Nuni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elveticaNeue-regular.fntdata"/><Relationship Id="rId25" Type="http://schemas.openxmlformats.org/officeDocument/2006/relationships/font" Target="fonts/Nunito-boldItalic.fntdata"/><Relationship Id="rId28" Type="http://schemas.openxmlformats.org/officeDocument/2006/relationships/font" Target="fonts/HelveticaNeue-italic.fntdata"/><Relationship Id="rId27" Type="http://schemas.openxmlformats.org/officeDocument/2006/relationships/font" Target="fonts/HelveticaNeue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HelveticaNeue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NunitoSemiBold-bold.fntdata"/><Relationship Id="rId18" Type="http://schemas.openxmlformats.org/officeDocument/2006/relationships/font" Target="fonts/Nunito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220e22d26e_0_8:notes"/>
          <p:cNvSpPr/>
          <p:nvPr>
            <p:ph idx="2" type="sldImg"/>
          </p:nvPr>
        </p:nvSpPr>
        <p:spPr>
          <a:xfrm>
            <a:off x="508400" y="385763"/>
            <a:ext cx="81279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g3220e22d26e_0_8:notes"/>
          <p:cNvSpPr txBox="1"/>
          <p:nvPr>
            <p:ph idx="1" type="body"/>
          </p:nvPr>
        </p:nvSpPr>
        <p:spPr>
          <a:xfrm>
            <a:off x="914400" y="2443163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" name="Google Shape;58;p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220e22d26e_0_65:notes"/>
          <p:cNvSpPr/>
          <p:nvPr>
            <p:ph idx="2" type="sldImg"/>
          </p:nvPr>
        </p:nvSpPr>
        <p:spPr>
          <a:xfrm>
            <a:off x="508000" y="385763"/>
            <a:ext cx="81279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3220e22d26e_0_65:notes"/>
          <p:cNvSpPr txBox="1"/>
          <p:nvPr>
            <p:ph idx="1" type="body"/>
          </p:nvPr>
        </p:nvSpPr>
        <p:spPr>
          <a:xfrm>
            <a:off x="914400" y="2443163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220e22d26e_0_70:notes"/>
          <p:cNvSpPr/>
          <p:nvPr>
            <p:ph idx="2" type="sldImg"/>
          </p:nvPr>
        </p:nvSpPr>
        <p:spPr>
          <a:xfrm>
            <a:off x="508000" y="385763"/>
            <a:ext cx="81279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g3220e22d26e_0_70:notes"/>
          <p:cNvSpPr txBox="1"/>
          <p:nvPr>
            <p:ph idx="1" type="body"/>
          </p:nvPr>
        </p:nvSpPr>
        <p:spPr>
          <a:xfrm>
            <a:off x="914400" y="2443163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220e22d26e_0_75:notes"/>
          <p:cNvSpPr/>
          <p:nvPr>
            <p:ph idx="2" type="sldImg"/>
          </p:nvPr>
        </p:nvSpPr>
        <p:spPr>
          <a:xfrm>
            <a:off x="508000" y="385763"/>
            <a:ext cx="81279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g3220e22d26e_0_75:notes"/>
          <p:cNvSpPr txBox="1"/>
          <p:nvPr>
            <p:ph idx="1" type="body"/>
          </p:nvPr>
        </p:nvSpPr>
        <p:spPr>
          <a:xfrm>
            <a:off x="914400" y="2443163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220e22d26e_0_80:notes"/>
          <p:cNvSpPr/>
          <p:nvPr>
            <p:ph idx="2" type="sldImg"/>
          </p:nvPr>
        </p:nvSpPr>
        <p:spPr>
          <a:xfrm>
            <a:off x="508000" y="385763"/>
            <a:ext cx="81279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g3220e22d26e_0_80:notes"/>
          <p:cNvSpPr txBox="1"/>
          <p:nvPr>
            <p:ph idx="1" type="body"/>
          </p:nvPr>
        </p:nvSpPr>
        <p:spPr>
          <a:xfrm>
            <a:off x="914400" y="2443163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220e22d26e_0_137:notes"/>
          <p:cNvSpPr/>
          <p:nvPr>
            <p:ph idx="2" type="sldImg"/>
          </p:nvPr>
        </p:nvSpPr>
        <p:spPr>
          <a:xfrm>
            <a:off x="508000" y="385763"/>
            <a:ext cx="81279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220e22d26e_0_137:notes"/>
          <p:cNvSpPr txBox="1"/>
          <p:nvPr>
            <p:ph idx="1" type="body"/>
          </p:nvPr>
        </p:nvSpPr>
        <p:spPr>
          <a:xfrm>
            <a:off x="914400" y="2443163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220e22d26e_0_152:notes"/>
          <p:cNvSpPr/>
          <p:nvPr>
            <p:ph idx="2" type="sldImg"/>
          </p:nvPr>
        </p:nvSpPr>
        <p:spPr>
          <a:xfrm>
            <a:off x="508000" y="385763"/>
            <a:ext cx="81279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220e22d26e_0_152:notes"/>
          <p:cNvSpPr txBox="1"/>
          <p:nvPr>
            <p:ph idx="1" type="body"/>
          </p:nvPr>
        </p:nvSpPr>
        <p:spPr>
          <a:xfrm>
            <a:off x="914400" y="2443163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220e22d26e_0_157:notes"/>
          <p:cNvSpPr/>
          <p:nvPr>
            <p:ph idx="2" type="sldImg"/>
          </p:nvPr>
        </p:nvSpPr>
        <p:spPr>
          <a:xfrm>
            <a:off x="508000" y="385763"/>
            <a:ext cx="81279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220e22d26e_0_157:notes"/>
          <p:cNvSpPr txBox="1"/>
          <p:nvPr>
            <p:ph idx="1" type="body"/>
          </p:nvPr>
        </p:nvSpPr>
        <p:spPr>
          <a:xfrm>
            <a:off x="914400" y="2443163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220e22d26e_0_162:notes"/>
          <p:cNvSpPr/>
          <p:nvPr>
            <p:ph idx="2" type="sldImg"/>
          </p:nvPr>
        </p:nvSpPr>
        <p:spPr>
          <a:xfrm>
            <a:off x="508400" y="385763"/>
            <a:ext cx="81279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220e22d26e_0_162:notes"/>
          <p:cNvSpPr txBox="1"/>
          <p:nvPr>
            <p:ph idx="1" type="body"/>
          </p:nvPr>
        </p:nvSpPr>
        <p:spPr>
          <a:xfrm>
            <a:off x="914400" y="2443163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220e22d26e_0_166:notes"/>
          <p:cNvSpPr/>
          <p:nvPr>
            <p:ph idx="2" type="sldImg"/>
          </p:nvPr>
        </p:nvSpPr>
        <p:spPr>
          <a:xfrm>
            <a:off x="508400" y="385763"/>
            <a:ext cx="81279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220e22d26e_0_166:notes"/>
          <p:cNvSpPr txBox="1"/>
          <p:nvPr>
            <p:ph idx="1" type="body"/>
          </p:nvPr>
        </p:nvSpPr>
        <p:spPr>
          <a:xfrm>
            <a:off x="914400" y="2443163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2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275574" y="351128"/>
            <a:ext cx="4896485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396843" y="895883"/>
            <a:ext cx="8298180" cy="34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rgbClr val="21212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2424266" y="4986147"/>
            <a:ext cx="4311015" cy="146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7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 type="obj">
  <p:cSld name="OBJECT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275574" y="351128"/>
            <a:ext cx="4896485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1" type="ftr"/>
          </p:nvPr>
        </p:nvSpPr>
        <p:spPr>
          <a:xfrm>
            <a:off x="2424266" y="4986147"/>
            <a:ext cx="4311015" cy="146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7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rgbClr val="21212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1" type="ftr"/>
          </p:nvPr>
        </p:nvSpPr>
        <p:spPr>
          <a:xfrm>
            <a:off x="2424266" y="4986147"/>
            <a:ext cx="4311015" cy="146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7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275574" y="351128"/>
            <a:ext cx="4896485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1" type="ftr"/>
          </p:nvPr>
        </p:nvSpPr>
        <p:spPr>
          <a:xfrm>
            <a:off x="2424266" y="4986147"/>
            <a:ext cx="4311015" cy="146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7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idx="11" type="ftr"/>
          </p:nvPr>
        </p:nvSpPr>
        <p:spPr>
          <a:xfrm>
            <a:off x="2424266" y="4986147"/>
            <a:ext cx="4311015" cy="146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7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5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6593" y="9"/>
            <a:ext cx="175895" cy="355600"/>
          </a:xfrm>
          <a:custGeom>
            <a:rect b="b" l="l" r="r" t="t"/>
            <a:pathLst>
              <a:path extrusionOk="0" h="355600" w="175895">
                <a:moveTo>
                  <a:pt x="175499" y="355499"/>
                </a:moveTo>
                <a:lnTo>
                  <a:pt x="0" y="355499"/>
                </a:lnTo>
                <a:lnTo>
                  <a:pt x="0" y="0"/>
                </a:lnTo>
                <a:lnTo>
                  <a:pt x="175499" y="0"/>
                </a:lnTo>
                <a:lnTo>
                  <a:pt x="175499" y="355499"/>
                </a:lnTo>
                <a:close/>
              </a:path>
            </a:pathLst>
          </a:custGeom>
          <a:solidFill>
            <a:srgbClr val="0D38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1"/>
          <p:cNvSpPr/>
          <p:nvPr/>
        </p:nvSpPr>
        <p:spPr>
          <a:xfrm>
            <a:off x="6593" y="353730"/>
            <a:ext cx="175895" cy="355600"/>
          </a:xfrm>
          <a:custGeom>
            <a:rect b="b" l="l" r="r" t="t"/>
            <a:pathLst>
              <a:path extrusionOk="0" h="355600" w="175895">
                <a:moveTo>
                  <a:pt x="175499" y="355499"/>
                </a:moveTo>
                <a:lnTo>
                  <a:pt x="0" y="355499"/>
                </a:lnTo>
                <a:lnTo>
                  <a:pt x="0" y="0"/>
                </a:lnTo>
                <a:lnTo>
                  <a:pt x="175499" y="0"/>
                </a:lnTo>
                <a:lnTo>
                  <a:pt x="175499" y="355499"/>
                </a:lnTo>
                <a:close/>
              </a:path>
            </a:pathLst>
          </a:custGeom>
          <a:solidFill>
            <a:srgbClr val="1973D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1"/>
          <p:cNvSpPr txBox="1"/>
          <p:nvPr>
            <p:ph type="title"/>
          </p:nvPr>
        </p:nvSpPr>
        <p:spPr>
          <a:xfrm>
            <a:off x="275574" y="351128"/>
            <a:ext cx="4896485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" type="body"/>
          </p:nvPr>
        </p:nvSpPr>
        <p:spPr>
          <a:xfrm>
            <a:off x="396843" y="895883"/>
            <a:ext cx="8298180" cy="34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1212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1" type="ftr"/>
          </p:nvPr>
        </p:nvSpPr>
        <p:spPr>
          <a:xfrm>
            <a:off x="2424266" y="4986147"/>
            <a:ext cx="4311015" cy="146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7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/>
          <p:nvPr>
            <p:ph type="ctrTitle"/>
          </p:nvPr>
        </p:nvSpPr>
        <p:spPr>
          <a:xfrm>
            <a:off x="1158150" y="1412050"/>
            <a:ext cx="68277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3600"/>
              <a:t>Presentation Title</a:t>
            </a:r>
            <a:endParaRPr sz="3600"/>
          </a:p>
        </p:txBody>
      </p:sp>
      <p:sp>
        <p:nvSpPr>
          <p:cNvPr id="54" name="Google Shape;54;p9"/>
          <p:cNvSpPr txBox="1"/>
          <p:nvPr>
            <p:ph type="ctrTitle"/>
          </p:nvPr>
        </p:nvSpPr>
        <p:spPr>
          <a:xfrm>
            <a:off x="1153000" y="2038575"/>
            <a:ext cx="68277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0" lang="en-US" sz="3000"/>
              <a:t>Project and Course Name</a:t>
            </a:r>
            <a:endParaRPr b="0" sz="3000"/>
          </a:p>
        </p:txBody>
      </p:sp>
      <p:sp>
        <p:nvSpPr>
          <p:cNvPr id="55" name="Google Shape;55;p9"/>
          <p:cNvSpPr txBox="1"/>
          <p:nvPr>
            <p:ph type="ctrTitle"/>
          </p:nvPr>
        </p:nvSpPr>
        <p:spPr>
          <a:xfrm>
            <a:off x="1153000" y="2429300"/>
            <a:ext cx="68277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0" lang="en-US" sz="1600"/>
              <a:t>Date</a:t>
            </a:r>
            <a:endParaRPr b="0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/>
          <p:nvPr>
            <p:ph type="title"/>
          </p:nvPr>
        </p:nvSpPr>
        <p:spPr>
          <a:xfrm>
            <a:off x="275574" y="351128"/>
            <a:ext cx="48966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Contents / Agenda</a:t>
            </a:r>
            <a:endParaRPr/>
          </a:p>
        </p:txBody>
      </p:sp>
      <p:sp>
        <p:nvSpPr>
          <p:cNvPr id="61" name="Google Shape;61;p10"/>
          <p:cNvSpPr txBox="1"/>
          <p:nvPr/>
        </p:nvSpPr>
        <p:spPr>
          <a:xfrm>
            <a:off x="396851" y="927875"/>
            <a:ext cx="3983100" cy="17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5280" lvl="0" marL="347980" marR="0" rtl="0" algn="l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Business Problem Overview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5280" lvl="0" marL="347980" marR="0" rtl="0" algn="l">
              <a:lnSpc>
                <a:spcPct val="100000"/>
              </a:lnSpc>
              <a:spcBef>
                <a:spcPts val="125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Overview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5280" lvl="0" marL="347980" marR="0" rtl="0" algn="l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EDA - Univariate Analysis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5280" lvl="0" marL="347980" marR="0" rtl="0" algn="l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EDA - Multivariate Analysis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" name="Google Shape;62;p10"/>
          <p:cNvSpPr txBox="1"/>
          <p:nvPr/>
        </p:nvSpPr>
        <p:spPr>
          <a:xfrm>
            <a:off x="4473775" y="1245650"/>
            <a:ext cx="40719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Helvetica Neue"/>
              <a:buChar char="●"/>
            </a:pPr>
            <a:r>
              <a:rPr lang="en-US">
                <a:solidFill>
                  <a:srgbClr val="21212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 Means</a:t>
            </a:r>
            <a:r>
              <a:rPr b="0" i="0" lang="en-US" sz="1400" u="none" cap="none" strike="noStrike">
                <a:solidFill>
                  <a:srgbClr val="21212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Clustering</a:t>
            </a:r>
            <a:endParaRPr b="0" i="0" sz="1400" u="none" cap="none" strike="noStrike">
              <a:solidFill>
                <a:srgbClr val="21212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1212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Helvetica Neue"/>
              <a:buChar char="●"/>
            </a:pPr>
            <a:r>
              <a:rPr b="0" i="0" lang="en-US" sz="1400" u="none" cap="none" strike="noStrike">
                <a:solidFill>
                  <a:srgbClr val="21212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Cluster Profiling and Analysis</a:t>
            </a:r>
            <a:endParaRPr b="0" i="0" sz="1400" u="none" cap="none" strike="noStrike">
              <a:solidFill>
                <a:srgbClr val="21212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1212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Helvetica Neue"/>
              <a:buChar char="●"/>
            </a:pPr>
            <a:r>
              <a:rPr b="0" i="0" lang="en-US" sz="1400" u="none" cap="none" strike="noStrike">
                <a:solidFill>
                  <a:srgbClr val="21212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Business Recommendations</a:t>
            </a:r>
            <a:endParaRPr b="0" i="0" sz="1400" u="none" cap="none" strike="noStrike">
              <a:solidFill>
                <a:srgbClr val="21212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>
                <a:solidFill>
                  <a:srgbClr val="000000"/>
                </a:solidFill>
              </a:rPr>
              <a:t>Business Problem Overview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-US" sz="1400">
                <a:solidFill>
                  <a:srgbClr val="000000"/>
                </a:solidFill>
              </a:rPr>
              <a:t>Please define the problem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1" lang="en-US" sz="1200">
                <a:solidFill>
                  <a:srgbClr val="000000"/>
                </a:solidFill>
              </a:rPr>
              <a:t>Note</a:t>
            </a:r>
            <a:r>
              <a:rPr i="1" lang="en-US" sz="1200">
                <a:solidFill>
                  <a:srgbClr val="000000"/>
                </a:solidFill>
              </a:rPr>
              <a:t>: You can use more than one slide if needed 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>
                <a:solidFill>
                  <a:srgbClr val="000000"/>
                </a:solidFill>
              </a:rPr>
              <a:t>Data Overview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-US" sz="1400">
                <a:solidFill>
                  <a:srgbClr val="000000"/>
                </a:solidFill>
              </a:rPr>
              <a:t>Please add the data overview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-US" sz="1400">
                <a:solidFill>
                  <a:srgbClr val="000000"/>
                </a:solidFill>
              </a:rPr>
              <a:t>Please add answers for all question from 1 till </a:t>
            </a:r>
            <a:r>
              <a:rPr lang="en-US">
                <a:solidFill>
                  <a:srgbClr val="000000"/>
                </a:solidFill>
              </a:rPr>
              <a:t>4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1" lang="en-US" sz="1200">
                <a:solidFill>
                  <a:srgbClr val="000000"/>
                </a:solidFill>
              </a:rPr>
              <a:t>Note</a:t>
            </a:r>
            <a:r>
              <a:rPr i="1" lang="en-US" sz="1200">
                <a:solidFill>
                  <a:srgbClr val="000000"/>
                </a:solidFill>
              </a:rPr>
              <a:t>: You can use more than one slide if needed 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>
                <a:solidFill>
                  <a:srgbClr val="000000"/>
                </a:solidFill>
              </a:rPr>
              <a:t>Univariate Analysis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-US" sz="1400">
                <a:solidFill>
                  <a:srgbClr val="000000"/>
                </a:solidFill>
              </a:rPr>
              <a:t>Please mention regarding univariate analysis for all columns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-US" sz="1400">
                <a:solidFill>
                  <a:srgbClr val="000000"/>
                </a:solidFill>
              </a:rPr>
              <a:t>Please add answers fo</a:t>
            </a:r>
            <a:r>
              <a:rPr lang="en-US">
                <a:solidFill>
                  <a:srgbClr val="000000"/>
                </a:solidFill>
              </a:rPr>
              <a:t>r</a:t>
            </a:r>
            <a:r>
              <a:rPr lang="en-US" sz="1400">
                <a:solidFill>
                  <a:srgbClr val="000000"/>
                </a:solidFill>
              </a:rPr>
              <a:t> question </a:t>
            </a:r>
            <a:r>
              <a:rPr lang="en-US">
                <a:solidFill>
                  <a:srgbClr val="000000"/>
                </a:solidFill>
              </a:rPr>
              <a:t>number</a:t>
            </a:r>
            <a:r>
              <a:rPr lang="en-US" sz="1400">
                <a:solidFill>
                  <a:srgbClr val="000000"/>
                </a:solidFill>
              </a:rPr>
              <a:t> </a:t>
            </a:r>
            <a:r>
              <a:rPr lang="en-US">
                <a:solidFill>
                  <a:srgbClr val="000000"/>
                </a:solidFill>
              </a:rPr>
              <a:t>5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1" lang="en-US" sz="1200">
                <a:solidFill>
                  <a:srgbClr val="000000"/>
                </a:solidFill>
              </a:rPr>
              <a:t>Note</a:t>
            </a:r>
            <a:r>
              <a:rPr i="1" lang="en-US" sz="1200">
                <a:solidFill>
                  <a:srgbClr val="000000"/>
                </a:solidFill>
              </a:rPr>
              <a:t>: You can use more than one slide if needed 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>
                <a:solidFill>
                  <a:srgbClr val="000000"/>
                </a:solidFill>
              </a:rPr>
              <a:t>Multivariate Analysis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6" name="Google Shape;86;p14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-US" sz="1400">
                <a:solidFill>
                  <a:srgbClr val="000000"/>
                </a:solidFill>
              </a:rPr>
              <a:t>Please mention regarding multivariate analysis between various columns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-US" sz="1400">
                <a:solidFill>
                  <a:srgbClr val="000000"/>
                </a:solidFill>
              </a:rPr>
              <a:t>Please add answers for </a:t>
            </a:r>
            <a:r>
              <a:rPr lang="en-US">
                <a:solidFill>
                  <a:srgbClr val="000000"/>
                </a:solidFill>
              </a:rPr>
              <a:t>question number </a:t>
            </a:r>
            <a:r>
              <a:rPr lang="en-US" sz="1400">
                <a:solidFill>
                  <a:srgbClr val="000000"/>
                </a:solidFill>
              </a:rPr>
              <a:t>6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1" lang="en-US" sz="1200">
                <a:solidFill>
                  <a:srgbClr val="000000"/>
                </a:solidFill>
              </a:rPr>
              <a:t>Note</a:t>
            </a:r>
            <a:r>
              <a:rPr i="1" lang="en-US" sz="1200">
                <a:solidFill>
                  <a:srgbClr val="000000"/>
                </a:solidFill>
              </a:rPr>
              <a:t>: You can use more than one slide if needed 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>
                <a:solidFill>
                  <a:srgbClr val="000000"/>
                </a:solidFill>
              </a:rPr>
              <a:t>K Means</a:t>
            </a:r>
            <a:r>
              <a:rPr lang="en-US">
                <a:solidFill>
                  <a:srgbClr val="000000"/>
                </a:solidFill>
              </a:rPr>
              <a:t> Clustering: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92" name="Google Shape;92;p15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-US" sz="1400">
                <a:solidFill>
                  <a:srgbClr val="000000"/>
                </a:solidFill>
              </a:rPr>
              <a:t>Please mention regardin</a:t>
            </a:r>
            <a:r>
              <a:rPr lang="en-US">
                <a:solidFill>
                  <a:srgbClr val="000000"/>
                </a:solidFill>
              </a:rPr>
              <a:t>g performing </a:t>
            </a:r>
            <a:r>
              <a:rPr lang="en-US">
                <a:solidFill>
                  <a:srgbClr val="000000"/>
                </a:solidFill>
              </a:rPr>
              <a:t>K Means</a:t>
            </a:r>
            <a:r>
              <a:rPr lang="en-US">
                <a:solidFill>
                  <a:srgbClr val="000000"/>
                </a:solidFill>
              </a:rPr>
              <a:t> Clustering on the data.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-US" sz="1400">
                <a:solidFill>
                  <a:srgbClr val="000000"/>
                </a:solidFill>
              </a:rPr>
              <a:t>Please add answers for </a:t>
            </a:r>
            <a:r>
              <a:rPr lang="en-US">
                <a:solidFill>
                  <a:srgbClr val="000000"/>
                </a:solidFill>
              </a:rPr>
              <a:t>questions from 7 till 9.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1" lang="en-US" sz="1200">
                <a:solidFill>
                  <a:srgbClr val="000000"/>
                </a:solidFill>
              </a:rPr>
              <a:t>Note</a:t>
            </a:r>
            <a:r>
              <a:rPr i="1" lang="en-US" sz="1200">
                <a:solidFill>
                  <a:srgbClr val="000000"/>
                </a:solidFill>
              </a:rPr>
              <a:t>: You can use more than one slide if needed 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>
                <a:solidFill>
                  <a:srgbClr val="000000"/>
                </a:solidFill>
              </a:rPr>
              <a:t>Cluster Profiling and analysis: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-US" sz="1400">
                <a:solidFill>
                  <a:srgbClr val="000000"/>
                </a:solidFill>
              </a:rPr>
              <a:t>Please mention regardin</a:t>
            </a:r>
            <a:r>
              <a:rPr lang="en-US">
                <a:solidFill>
                  <a:srgbClr val="000000"/>
                </a:solidFill>
              </a:rPr>
              <a:t>g Cluster profiling of the K means algorithm.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Please add answers for questions 10 and 11.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1" lang="en-US" sz="1200">
                <a:solidFill>
                  <a:srgbClr val="000000"/>
                </a:solidFill>
              </a:rPr>
              <a:t>Note</a:t>
            </a:r>
            <a:r>
              <a:rPr i="1" lang="en-US" sz="1200">
                <a:solidFill>
                  <a:srgbClr val="000000"/>
                </a:solidFill>
              </a:rPr>
              <a:t>: You can use more than one slide if needed 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>
                <a:solidFill>
                  <a:srgbClr val="000000"/>
                </a:solidFill>
              </a:rPr>
              <a:t>Business Recommendations: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04" name="Google Shape;104;p17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-US" sz="1400">
                <a:solidFill>
                  <a:srgbClr val="000000"/>
                </a:solidFill>
              </a:rPr>
              <a:t>Please mention regardin</a:t>
            </a:r>
            <a:r>
              <a:rPr lang="en-US">
                <a:solidFill>
                  <a:srgbClr val="000000"/>
                </a:solidFill>
              </a:rPr>
              <a:t>g Business recommendations based on the cluster insights.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-US" sz="1400">
                <a:solidFill>
                  <a:srgbClr val="000000"/>
                </a:solidFill>
              </a:rPr>
              <a:t>Please add answers for</a:t>
            </a:r>
            <a:r>
              <a:rPr lang="en-US">
                <a:solidFill>
                  <a:srgbClr val="000000"/>
                </a:solidFill>
              </a:rPr>
              <a:t> question number 12.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1" lang="en-US" sz="1200">
                <a:solidFill>
                  <a:srgbClr val="000000"/>
                </a:solidFill>
              </a:rPr>
              <a:t>Note</a:t>
            </a:r>
            <a:r>
              <a:rPr i="1" lang="en-US" sz="1200">
                <a:solidFill>
                  <a:srgbClr val="000000"/>
                </a:solidFill>
              </a:rPr>
              <a:t>: You can use more than one slide if needed 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ctrTitle"/>
          </p:nvPr>
        </p:nvSpPr>
        <p:spPr>
          <a:xfrm>
            <a:off x="0" y="2820425"/>
            <a:ext cx="9144000" cy="5817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3300">
                <a:solidFill>
                  <a:schemeClr val="lt1"/>
                </a:solidFill>
              </a:rPr>
              <a:t>APPENDIX</a:t>
            </a:r>
            <a:endParaRPr sz="3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>
                <a:solidFill>
                  <a:srgbClr val="000000"/>
                </a:solidFill>
              </a:rPr>
              <a:t>Slide Header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5" name="Google Shape;115;p19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Char char="●"/>
            </a:pPr>
            <a:r>
              <a:rPr lang="en-US" sz="1400">
                <a:solidFill>
                  <a:schemeClr val="dk1"/>
                </a:solidFill>
              </a:rPr>
              <a:t>Please add any other pointers (if needed)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/>
          <p:nvPr/>
        </p:nvSpPr>
        <p:spPr>
          <a:xfrm>
            <a:off x="1" y="-335"/>
            <a:ext cx="9144635" cy="5144135"/>
          </a:xfrm>
          <a:custGeom>
            <a:rect b="b" l="l" r="r" t="t"/>
            <a:pathLst>
              <a:path extrusionOk="0" h="5144135" w="9144635">
                <a:moveTo>
                  <a:pt x="9144599" y="5143799"/>
                </a:moveTo>
                <a:lnTo>
                  <a:pt x="0" y="5143799"/>
                </a:lnTo>
                <a:lnTo>
                  <a:pt x="0" y="0"/>
                </a:lnTo>
                <a:lnTo>
                  <a:pt x="9144599" y="0"/>
                </a:lnTo>
                <a:lnTo>
                  <a:pt x="9144599" y="5143799"/>
                </a:lnTo>
                <a:close/>
              </a:path>
            </a:pathLst>
          </a:custGeom>
          <a:solidFill>
            <a:srgbClr val="0D38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2535" y="514443"/>
            <a:ext cx="2095111" cy="3703319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0"/>
          <p:cNvSpPr txBox="1"/>
          <p:nvPr>
            <p:ph type="title"/>
          </p:nvPr>
        </p:nvSpPr>
        <p:spPr>
          <a:xfrm>
            <a:off x="388551" y="2275575"/>
            <a:ext cx="3694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300">
                <a:solidFill>
                  <a:srgbClr val="FFFFFF"/>
                </a:solidFill>
              </a:rPr>
              <a:t>Happy Learning !</a:t>
            </a:r>
            <a:endParaRPr sz="3300"/>
          </a:p>
        </p:txBody>
      </p:sp>
      <p:pic>
        <p:nvPicPr>
          <p:cNvPr id="123" name="Google Shape;12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1875" y="769949"/>
            <a:ext cx="3071451" cy="126127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0"/>
          <p:cNvSpPr txBox="1"/>
          <p:nvPr/>
        </p:nvSpPr>
        <p:spPr>
          <a:xfrm>
            <a:off x="8757533" y="4868927"/>
            <a:ext cx="147320" cy="14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fi7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